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0"/>
            <a:ext cx="9144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58A6FF"/>
                </a:solidFill>
                <a:latin typeface="Calibri"/>
              </a:rPr>
              <a:t>Аркаша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0883E"/>
                </a:solidFill>
                <a:latin typeface="Calibri"/>
              </a:rPr>
              <a:t>AI-агент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566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E6EDF3"/>
                </a:solidFill>
                <a:latin typeface="Calibri"/>
              </a:rPr>
              <a:t>Персональный AI-агент для вашего бизнеса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3891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8B949E"/>
                </a:solidFill>
                <a:latin typeface="Calibri"/>
              </a:rPr>
              <a:t>Не чат-бот. Полноценный агент, который работает пока вы отдыхаете.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6217920"/>
            <a:ext cx="4572000" cy="45720"/>
          </a:xfrm>
          <a:prstGeom prst="rect">
            <a:avLst/>
          </a:prstGeom>
          <a:solidFill>
            <a:srgbClr val="F08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3093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B949E"/>
                </a:solidFill>
                <a:latin typeface="Calibri"/>
              </a:rPr>
              <a:t>Студия AI-разработки Дениса Парменева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4552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8B949E"/>
                </a:solidFill>
                <a:latin typeface="Calibri"/>
              </a:rPr>
              <a:t>1/12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08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11640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E6EDF3"/>
                </a:solidFill>
                <a:latin typeface="Calibri"/>
              </a:rPr>
              <a:t>Рутина съедает время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4552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8B949E"/>
                </a:solidFill>
                <a:latin typeface="Calibri"/>
              </a:rPr>
              <a:t>2/12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3474720" cy="3200400"/>
          </a:xfrm>
          <a:prstGeom prst="rect">
            <a:avLst/>
          </a:prstGeom>
          <a:solidFill>
            <a:srgbClr val="161B22"/>
          </a:solidFill>
          <a:ln w="12700">
            <a:solidFill>
              <a:srgbClr val="F08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883E"/>
                </a:solidFill>
                <a:latin typeface="Calibri"/>
              </a:rPr>
              <a:t>[ ПОИСК 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6EDF3"/>
                </a:solidFill>
                <a:latin typeface="Calibri"/>
              </a:rPr>
              <a:t>Поиск информации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6032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8B949E"/>
                </a:solidFill>
                <a:latin typeface="Calibri"/>
              </a:rPr>
              <a:t>Часы на ручной сбор данных</a:t>
            </a:r>
          </a:p>
        </p:txBody>
      </p:sp>
      <p:sp>
        <p:nvSpPr>
          <p:cNvPr id="9" name="Rectangle 8"/>
          <p:cNvSpPr/>
          <p:nvPr/>
        </p:nvSpPr>
        <p:spPr>
          <a:xfrm>
            <a:off x="4023360" y="1188720"/>
            <a:ext cx="3474720" cy="3200400"/>
          </a:xfrm>
          <a:prstGeom prst="rect">
            <a:avLst/>
          </a:prstGeom>
          <a:solidFill>
            <a:srgbClr val="161B22"/>
          </a:solidFill>
          <a:ln w="12700">
            <a:solidFill>
              <a:srgbClr val="F08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0" y="13716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883E"/>
                </a:solidFill>
                <a:latin typeface="Calibri"/>
              </a:rPr>
              <a:t>[ ДОКУМЕНТЫ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19202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6EDF3"/>
                </a:solidFill>
                <a:latin typeface="Calibri"/>
              </a:rPr>
              <a:t>Документы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256032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8B949E"/>
                </a:solidFill>
                <a:latin typeface="Calibri"/>
              </a:rPr>
              <a:t>Создание, форматирование, отправка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0" y="1188720"/>
            <a:ext cx="3474720" cy="3200400"/>
          </a:xfrm>
          <a:prstGeom prst="rect">
            <a:avLst/>
          </a:prstGeom>
          <a:solidFill>
            <a:srgbClr val="161B22"/>
          </a:solidFill>
          <a:ln w="12700">
            <a:solidFill>
              <a:srgbClr val="F08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13716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883E"/>
                </a:solidFill>
                <a:latin typeface="Calibri"/>
              </a:rPr>
              <a:t>[ КОММУНИКАЦИИ 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19202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6EDF3"/>
                </a:solidFill>
                <a:latin typeface="Calibri"/>
              </a:rPr>
              <a:t>Коммуникации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256032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8B949E"/>
                </a:solidFill>
                <a:latin typeface="Calibri"/>
              </a:rPr>
              <a:t>Ответы на письма, напоминания, задачи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663440"/>
            <a:ext cx="11457432" cy="822960"/>
          </a:xfrm>
          <a:prstGeom prst="rect">
            <a:avLst/>
          </a:prstGeom>
          <a:solidFill>
            <a:srgbClr val="1A233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75488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58A6FF"/>
                </a:solidFill>
                <a:latin typeface="Calibri"/>
              </a:rPr>
              <a:t>Что если всё это делает агент?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11640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58A6FF"/>
                </a:solidFill>
                <a:latin typeface="Calibri"/>
              </a:rPr>
              <a:t>Аркаша — ваш цифровой сотрудник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4552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8B949E"/>
                </a:solidFill>
                <a:latin typeface="Calibri"/>
              </a:rPr>
              <a:t>3/12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114574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E6EDF3"/>
                </a:solidFill>
                <a:latin typeface="Calibri"/>
              </a:rPr>
              <a:t>Работает 24/7. Помнит всё. Не болеет. Не уходит в отпуск.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011680"/>
            <a:ext cx="2651760" cy="320040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1945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8A6FF"/>
                </a:solidFill>
                <a:latin typeface="Calibri"/>
              </a:rPr>
              <a:t>[ SEARCH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6517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6EDF3"/>
                </a:solidFill>
                <a:latin typeface="Calibri"/>
              </a:rPr>
              <a:t>Исследования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29184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B949E"/>
                </a:solidFill>
                <a:latin typeface="Calibri"/>
              </a:rPr>
              <a:t>Поиск, анализ,
аналитика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2011680"/>
            <a:ext cx="2651760" cy="3200400"/>
          </a:xfrm>
          <a:prstGeom prst="rect">
            <a:avLst/>
          </a:prstGeom>
          <a:solidFill>
            <a:srgbClr val="161B22"/>
          </a:solidFill>
          <a:ln w="12700">
            <a:solidFill>
              <a:srgbClr val="F08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21945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883E"/>
                </a:solidFill>
                <a:latin typeface="Calibri"/>
              </a:rPr>
              <a:t>[ DOC 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26517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6EDF3"/>
                </a:solidFill>
                <a:latin typeface="Calibri"/>
              </a:rPr>
              <a:t>Документы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329184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B949E"/>
                </a:solidFill>
                <a:latin typeface="Calibri"/>
              </a:rPr>
              <a:t>Договоры, КП,
отчёты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2011680"/>
            <a:ext cx="2651760" cy="320040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21945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8A6FF"/>
                </a:solidFill>
                <a:latin typeface="Calibri"/>
              </a:rPr>
              <a:t>[ COMM 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26517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6EDF3"/>
                </a:solidFill>
                <a:latin typeface="Calibri"/>
              </a:rPr>
              <a:t>Коммуникации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329184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B949E"/>
                </a:solidFill>
                <a:latin typeface="Calibri"/>
              </a:rPr>
              <a:t>Email, задачи,
напоминания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69680" y="2011680"/>
            <a:ext cx="2651760" cy="3200400"/>
          </a:xfrm>
          <a:prstGeom prst="rect">
            <a:avLst/>
          </a:prstGeom>
          <a:solidFill>
            <a:srgbClr val="161B22"/>
          </a:solidFill>
          <a:ln w="12700">
            <a:solidFill>
              <a:srgbClr val="F08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06840" y="21945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883E"/>
                </a:solidFill>
                <a:latin typeface="Calibri"/>
              </a:rPr>
              <a:t>[ AUTO 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26517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6EDF3"/>
                </a:solidFill>
                <a:latin typeface="Calibri"/>
              </a:rPr>
              <a:t>Автоматизация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40" y="329184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B949E"/>
                </a:solidFill>
                <a:latin typeface="Calibri"/>
              </a:rPr>
              <a:t>Мониторинг,
API, скрипты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11640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58A6FF"/>
                </a:solidFill>
                <a:latin typeface="Calibri"/>
              </a:rPr>
              <a:t>Просто напишите в Telegram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4552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8B949E"/>
                </a:solidFill>
                <a:latin typeface="Calibri"/>
              </a:rPr>
              <a:t>4/12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828800"/>
            <a:ext cx="2286000" cy="128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F08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011680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6EDF3"/>
                </a:solidFill>
                <a:latin typeface="Calibri"/>
              </a:rPr>
              <a:t>Вы пишете
задачу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22402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58A6FF"/>
                </a:solidFill>
                <a:latin typeface="Calibri"/>
              </a:rPr>
              <a:t>-&gt;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1828800"/>
            <a:ext cx="2286000" cy="128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2011680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6EDF3"/>
                </a:solidFill>
                <a:latin typeface="Calibri"/>
              </a:rPr>
              <a:t>Аркаша
анализирует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22402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58A6FF"/>
                </a:solidFill>
                <a:latin typeface="Calibri"/>
              </a:rPr>
              <a:t>-&gt;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828800"/>
            <a:ext cx="2286000" cy="128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2011680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6EDF3"/>
                </a:solidFill>
                <a:latin typeface="Calibri"/>
              </a:rPr>
              <a:t>Выполняет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22402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58A6FF"/>
                </a:solidFill>
                <a:latin typeface="Calibri"/>
              </a:rPr>
              <a:t>-&gt;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418320" y="1828800"/>
            <a:ext cx="2286000" cy="128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F08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55480" y="2011680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6EDF3"/>
                </a:solidFill>
                <a:latin typeface="Calibri"/>
              </a:rPr>
              <a:t>Докладывает
результат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474720"/>
            <a:ext cx="11457432" cy="2011680"/>
          </a:xfrm>
          <a:prstGeom prst="rect">
            <a:avLst/>
          </a:prstGeom>
          <a:solidFill>
            <a:srgbClr val="0F1A2E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611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8A6FF"/>
                </a:solidFill>
                <a:latin typeface="Calibri"/>
              </a:rPr>
              <a:t>Пример: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023360"/>
            <a:ext cx="109087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E6EDF3"/>
                </a:solidFill>
                <a:latin typeface="Calibri"/>
              </a:rPr>
              <a:t>"Найди контакты 20 логистических компаний Пензы и составь таблицу"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6634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0883E"/>
                </a:solidFill>
                <a:latin typeface="Calibri"/>
              </a:rPr>
              <a:t>→  Готово за 5 минут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11640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58A6FF"/>
                </a:solidFill>
                <a:latin typeface="Calibri"/>
              </a:rPr>
              <a:t>Исследования и аналитика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4552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8B949E"/>
                </a:solidFill>
                <a:latin typeface="Calibri"/>
              </a:rPr>
              <a:t>5/12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417320"/>
            <a:ext cx="137160" cy="13716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6EDF3"/>
                </a:solidFill>
                <a:latin typeface="Calibri"/>
              </a:rPr>
              <a:t>Поиск информации в интернете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2011680"/>
            <a:ext cx="137160" cy="13716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7452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6EDF3"/>
                </a:solidFill>
                <a:latin typeface="Calibri"/>
              </a:rPr>
              <a:t>Анализ сайтов конкурентов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606040"/>
            <a:ext cx="137160" cy="13716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46888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6EDF3"/>
                </a:solidFill>
                <a:latin typeface="Calibri"/>
              </a:rPr>
              <a:t>Мониторинг цен и новостей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3200400"/>
            <a:ext cx="137160" cy="13716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06324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6EDF3"/>
                </a:solidFill>
                <a:latin typeface="Calibri"/>
              </a:rPr>
              <a:t>Сбор контактов и лидов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3794760"/>
            <a:ext cx="137160" cy="13716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65760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6EDF3"/>
                </a:solidFill>
                <a:latin typeface="Calibri"/>
              </a:rPr>
              <a:t>Анализ PDF, отчётов, документов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572000"/>
            <a:ext cx="11457432" cy="1463040"/>
          </a:xfrm>
          <a:prstGeom prst="rect">
            <a:avLst/>
          </a:prstGeom>
          <a:solidFill>
            <a:srgbClr val="0D1F2D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663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8A6FF"/>
                </a:solidFill>
                <a:latin typeface="Calibri"/>
              </a:rPr>
              <a:t>Задача: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074920"/>
            <a:ext cx="109087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E6EDF3"/>
                </a:solidFill>
                <a:latin typeface="Calibri"/>
              </a:rPr>
              <a:t>"Проанализируй сайты топ-10 конкурентов и составь сравнительную таблицу"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20" y="1188720"/>
            <a:ext cx="3383280" cy="320040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0" y="1463040"/>
            <a:ext cx="3017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6EDF3"/>
                </a:solidFill>
                <a:latin typeface="Calibri"/>
              </a:rPr>
              <a:t>Аркаша находит
данные там,
где человек
тратит часы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08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11640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E6EDF3"/>
                </a:solidFill>
                <a:latin typeface="Calibri"/>
              </a:rPr>
              <a:t>Создание документов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4552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8B949E"/>
                </a:solidFill>
                <a:latin typeface="Calibri"/>
              </a:rPr>
              <a:t>6/12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417320"/>
            <a:ext cx="137160" cy="137160"/>
          </a:xfrm>
          <a:prstGeom prst="rect">
            <a:avLst/>
          </a:prstGeom>
          <a:solidFill>
            <a:srgbClr val="F08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6EDF3"/>
                </a:solidFill>
                <a:latin typeface="Calibri"/>
              </a:rPr>
              <a:t>Договоры, коммерческие предложения, презентации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2011680"/>
            <a:ext cx="137160" cy="137160"/>
          </a:xfrm>
          <a:prstGeom prst="rect">
            <a:avLst/>
          </a:prstGeom>
          <a:solidFill>
            <a:srgbClr val="F08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7452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6EDF3"/>
                </a:solidFill>
                <a:latin typeface="Calibri"/>
              </a:rPr>
              <a:t>Таблицы и отчёты Excel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606040"/>
            <a:ext cx="137160" cy="137160"/>
          </a:xfrm>
          <a:prstGeom prst="rect">
            <a:avLst/>
          </a:prstGeom>
          <a:solidFill>
            <a:srgbClr val="F08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46888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6EDF3"/>
                </a:solidFill>
                <a:latin typeface="Calibri"/>
              </a:rPr>
              <a:t>Диаграммы и инфографика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3200400"/>
            <a:ext cx="137160" cy="137160"/>
          </a:xfrm>
          <a:prstGeom prst="rect">
            <a:avLst/>
          </a:prstGeom>
          <a:solidFill>
            <a:srgbClr val="F08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06324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6EDF3"/>
                </a:solidFill>
                <a:latin typeface="Calibri"/>
              </a:rPr>
              <a:t>Форматирование и оформление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3794760"/>
            <a:ext cx="137160" cy="137160"/>
          </a:xfrm>
          <a:prstGeom prst="rect">
            <a:avLst/>
          </a:prstGeom>
          <a:solidFill>
            <a:srgbClr val="F08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65760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6EDF3"/>
                </a:solidFill>
                <a:latin typeface="Calibri"/>
              </a:rPr>
              <a:t>Перевод и редактура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572000"/>
            <a:ext cx="11457432" cy="1463040"/>
          </a:xfrm>
          <a:prstGeom prst="rect">
            <a:avLst/>
          </a:prstGeom>
          <a:solidFill>
            <a:srgbClr val="1A1200"/>
          </a:solidFill>
          <a:ln w="12700">
            <a:solidFill>
              <a:srgbClr val="F08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663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0883E"/>
                </a:solidFill>
                <a:latin typeface="Calibri"/>
              </a:rPr>
              <a:t>Задача: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074920"/>
            <a:ext cx="109087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E6EDF3"/>
                </a:solidFill>
                <a:latin typeface="Calibri"/>
              </a:rPr>
              <a:t>"Создай КП для клиента на основе брифа"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20" y="1188720"/>
            <a:ext cx="3383280" cy="3200400"/>
          </a:xfrm>
          <a:prstGeom prst="rect">
            <a:avLst/>
          </a:prstGeom>
          <a:solidFill>
            <a:srgbClr val="161B22"/>
          </a:solidFill>
          <a:ln w="12700">
            <a:solidFill>
              <a:srgbClr val="F08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0" y="1828800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E6EDF3"/>
                </a:solidFill>
                <a:latin typeface="Calibri"/>
              </a:rPr>
              <a:t>Готовые документы
за минуты,
не за часы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11640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58A6FF"/>
                </a:solidFill>
                <a:latin typeface="Calibri"/>
              </a:rPr>
              <a:t>Автоматизация задач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4552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8B949E"/>
                </a:solidFill>
                <a:latin typeface="Calibri"/>
              </a:rPr>
              <a:t>7/12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417320"/>
            <a:ext cx="137160" cy="13716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6EDF3"/>
                </a:solidFill>
                <a:latin typeface="Calibri"/>
              </a:rPr>
              <a:t>Напоминания и дедлайны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2011680"/>
            <a:ext cx="137160" cy="13716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7452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6EDF3"/>
                </a:solidFill>
                <a:latin typeface="Calibri"/>
              </a:rPr>
              <a:t>Мониторинг серверов и сервисов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606040"/>
            <a:ext cx="137160" cy="13716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46888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6EDF3"/>
                </a:solidFill>
                <a:latin typeface="Calibri"/>
              </a:rPr>
              <a:t>Email: чтение, сортировка, ответы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3200400"/>
            <a:ext cx="137160" cy="13716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06324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6EDF3"/>
                </a:solidFill>
                <a:latin typeface="Calibri"/>
              </a:rPr>
              <a:t>Управление задачами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3794760"/>
            <a:ext cx="137160" cy="13716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65760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6EDF3"/>
                </a:solidFill>
                <a:latin typeface="Calibri"/>
              </a:rPr>
              <a:t>Регулярные отчёты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572000"/>
            <a:ext cx="11457432" cy="1554480"/>
          </a:xfrm>
          <a:prstGeom prst="rect">
            <a:avLst/>
          </a:prstGeom>
          <a:solidFill>
            <a:srgbClr val="0D1F2D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663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8A6FF"/>
                </a:solidFill>
                <a:latin typeface="Calibri"/>
              </a:rPr>
              <a:t>Задача: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074920"/>
            <a:ext cx="1090879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E6EDF3"/>
                </a:solidFill>
                <a:latin typeface="Calibri"/>
              </a:rPr>
              <a:t>"Каждое утро присылай сводку: погода, задачи на день, важные письма"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20" y="1188720"/>
            <a:ext cx="3383280" cy="320040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0" y="201168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6EDF3"/>
                </a:solidFill>
                <a:latin typeface="Calibri"/>
              </a:rPr>
              <a:t>Аркаша работает
pока вы спите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08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11640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E6EDF3"/>
                </a:solidFill>
                <a:latin typeface="Calibri"/>
              </a:rPr>
              <a:t>Помнит всё о вашем бизнесе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4552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8B949E"/>
                </a:solidFill>
                <a:latin typeface="Calibri"/>
              </a:rPr>
              <a:t>8/12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3474720" cy="228600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3108960" cy="4572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6EDF3"/>
                </a:solidFill>
                <a:latin typeface="Calibri"/>
              </a:rPr>
              <a:t>Знает ваших клиентов,
партнёров, проекты</a:t>
            </a:r>
          </a:p>
        </p:txBody>
      </p:sp>
      <p:sp>
        <p:nvSpPr>
          <p:cNvPr id="8" name="Rectangle 7"/>
          <p:cNvSpPr/>
          <p:nvPr/>
        </p:nvSpPr>
        <p:spPr>
          <a:xfrm>
            <a:off x="4023360" y="1371600"/>
            <a:ext cx="3474720" cy="2286000"/>
          </a:xfrm>
          <a:prstGeom prst="rect">
            <a:avLst/>
          </a:prstGeom>
          <a:solidFill>
            <a:srgbClr val="161B22"/>
          </a:solidFill>
          <a:ln w="12700">
            <a:solidFill>
              <a:srgbClr val="F08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06240" y="1554480"/>
            <a:ext cx="3108960" cy="45720"/>
          </a:xfrm>
          <a:prstGeom prst="rect">
            <a:avLst/>
          </a:prstGeom>
          <a:solidFill>
            <a:srgbClr val="F08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0" y="182880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6EDF3"/>
                </a:solidFill>
                <a:latin typeface="Calibri"/>
              </a:rPr>
              <a:t>Помнит историю задач
и решений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0" y="1371600"/>
            <a:ext cx="3474720" cy="228600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863840" y="1554480"/>
            <a:ext cx="3108960" cy="4572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182880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6EDF3"/>
                </a:solidFill>
                <a:latin typeface="Calibri"/>
              </a:rPr>
              <a:t>Не нужно объяснять
одно и то же дважды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931920"/>
            <a:ext cx="11457432" cy="1737360"/>
          </a:xfrm>
          <a:prstGeom prst="rect">
            <a:avLst/>
          </a:prstGeom>
          <a:solidFill>
            <a:srgbClr val="0F1A2E"/>
          </a:solidFill>
          <a:ln w="12700">
            <a:solidFill>
              <a:srgbClr val="F08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23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0883E"/>
                </a:solidFill>
                <a:latin typeface="Calibri"/>
              </a:rPr>
              <a:t>Метафора: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434840"/>
            <a:ext cx="1090879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1">
                <a:solidFill>
                  <a:srgbClr val="E6EDF3"/>
                </a:solidFill>
                <a:latin typeface="Calibri"/>
              </a:rPr>
              <a:t>"Как опытный ассистент, который работает с вами уже год — с первого дня"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11640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58A6FF"/>
                </a:solidFill>
                <a:latin typeface="Calibri"/>
              </a:rPr>
              <a:t>Реальные задачи за сегодня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4552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8B949E"/>
                </a:solidFill>
                <a:latin typeface="Calibri"/>
              </a:rPr>
              <a:t>9/12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2651760" cy="347472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544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58A6FF"/>
                </a:solidFill>
                <a:latin typeface="Calibri"/>
              </a:rPr>
              <a:t>8 мин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377440"/>
            <a:ext cx="2377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E6EDF3"/>
                </a:solidFill>
                <a:latin typeface="Calibri"/>
              </a:rPr>
              <a:t>Сгенерировал план запуска AI-студии
с диаграммами</a:t>
            </a:r>
          </a:p>
        </p:txBody>
      </p:sp>
      <p:sp>
        <p:nvSpPr>
          <p:cNvPr id="8" name="Rectangle 7"/>
          <p:cNvSpPr/>
          <p:nvPr/>
        </p:nvSpPr>
        <p:spPr>
          <a:xfrm>
            <a:off x="3246120" y="1371600"/>
            <a:ext cx="2651760" cy="3474720"/>
          </a:xfrm>
          <a:prstGeom prst="rect">
            <a:avLst/>
          </a:prstGeom>
          <a:solidFill>
            <a:srgbClr val="161B22"/>
          </a:solidFill>
          <a:ln w="12700">
            <a:solidFill>
              <a:srgbClr val="F08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15544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0883E"/>
                </a:solidFill>
                <a:latin typeface="Calibri"/>
              </a:rPr>
              <a:t>15 мин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377440"/>
            <a:ext cx="2377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E6EDF3"/>
                </a:solidFill>
                <a:latin typeface="Calibri"/>
              </a:rPr>
              <a:t>Проверил 20 конкурентов
и составил аналитику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371600"/>
            <a:ext cx="2651760" cy="347472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5544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58A6FF"/>
                </a:solidFill>
                <a:latin typeface="Calibri"/>
              </a:rPr>
              <a:t>8 мин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2377440"/>
            <a:ext cx="2377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E6EDF3"/>
                </a:solidFill>
                <a:latin typeface="Calibri"/>
              </a:rPr>
              <a:t>Создал 2 DOCX документа по 300KB
с 7 диаграммами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06840" y="1371600"/>
            <a:ext cx="2651760" cy="3474720"/>
          </a:xfrm>
          <a:prstGeom prst="rect">
            <a:avLst/>
          </a:prstGeom>
          <a:solidFill>
            <a:srgbClr val="161B22"/>
          </a:solidFill>
          <a:ln w="12700">
            <a:solidFill>
              <a:srgbClr val="F08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0" y="15544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0883E"/>
                </a:solidFill>
                <a:latin typeface="Calibri"/>
              </a:rPr>
              <a:t>24/7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2377440"/>
            <a:ext cx="2377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E6EDF3"/>
                </a:solidFill>
                <a:latin typeface="Calibri"/>
              </a:rPr>
              <a:t>Мониторит лекарства,
серверы и email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08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11640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E6EDF3"/>
                </a:solidFill>
                <a:latin typeface="Calibri"/>
              </a:rPr>
              <a:t>Работает там, где работаете вы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4552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8B949E"/>
                </a:solidFill>
                <a:latin typeface="Calibri"/>
              </a:rPr>
              <a:t>10/12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8A6FF"/>
                </a:solidFill>
                <a:latin typeface="Calibri"/>
              </a:rPr>
              <a:t>КАНАЛЫ ОБЩЕНИЯ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91640"/>
            <a:ext cx="2103120" cy="59436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7373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6EDF3"/>
                </a:solidFill>
                <a:latin typeface="Calibri"/>
              </a:rPr>
              <a:t>Telegram (основной)</a:t>
            </a:r>
          </a:p>
        </p:txBody>
      </p:sp>
      <p:sp>
        <p:nvSpPr>
          <p:cNvPr id="8" name="Rectangle 7"/>
          <p:cNvSpPr/>
          <p:nvPr/>
        </p:nvSpPr>
        <p:spPr>
          <a:xfrm>
            <a:off x="2651760" y="1691640"/>
            <a:ext cx="2103120" cy="59436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17373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6EDF3"/>
                </a:solidFill>
                <a:latin typeface="Calibri"/>
              </a:rPr>
              <a:t>WhatsApp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37760" y="1691640"/>
            <a:ext cx="2103120" cy="59436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0" y="17373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6EDF3"/>
                </a:solidFill>
                <a:latin typeface="Calibri"/>
              </a:rPr>
              <a:t>Discord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23760" y="1691640"/>
            <a:ext cx="2103120" cy="59436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0" y="17373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6EDF3"/>
                </a:solidFill>
                <a:latin typeface="Calibri"/>
              </a:rPr>
              <a:t>Email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509760" y="1691640"/>
            <a:ext cx="2103120" cy="59436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0" y="17373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6EDF3"/>
                </a:solidFill>
                <a:latin typeface="Calibri"/>
              </a:rPr>
              <a:t>Web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2743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883E"/>
                </a:solidFill>
                <a:latin typeface="Calibri"/>
              </a:rPr>
              <a:t>ИНТЕГРАЦИИ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200400"/>
            <a:ext cx="265176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264408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E6EDF3"/>
                </a:solidFill>
                <a:latin typeface="Calibri"/>
              </a:rPr>
              <a:t>Google Workspace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0" y="3200400"/>
            <a:ext cx="265176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F08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91840" y="3264408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E6EDF3"/>
                </a:solidFill>
                <a:latin typeface="Calibri"/>
              </a:rPr>
              <a:t>1C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35040" y="3200400"/>
            <a:ext cx="265176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0" y="3264408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E6EDF3"/>
                </a:solidFill>
                <a:latin typeface="Calibri"/>
              </a:rPr>
              <a:t>CRM-системы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869680" y="3200400"/>
            <a:ext cx="265176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F08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0" y="3264408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E6EDF3"/>
                </a:solidFill>
                <a:latin typeface="Calibri"/>
              </a:rPr>
              <a:t>Любой API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297680"/>
            <a:ext cx="11457432" cy="1371600"/>
          </a:xfrm>
          <a:prstGeom prst="rect">
            <a:avLst/>
          </a:prstGeom>
          <a:solidFill>
            <a:srgbClr val="1A2332"/>
          </a:solidFill>
          <a:ln w="12700">
            <a:solidFill>
              <a:srgbClr val="F08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434840"/>
            <a:ext cx="109087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E6EDF3"/>
                </a:solidFill>
                <a:latin typeface="Calibri"/>
              </a:rPr>
              <a:t>Настраиваем под ваши процессы за 1-3 дня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983480"/>
            <a:ext cx="109087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8B949E"/>
                </a:solidFill>
                <a:latin typeface="Calibri"/>
              </a:rPr>
              <a:t>Без сложных интеграций. Без IT-отдела. Просто скажите — что нужно.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11640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58A6FF"/>
                </a:solidFill>
                <a:latin typeface="Calibri"/>
              </a:rPr>
              <a:t>Кому подходит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4552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8B949E"/>
                </a:solidFill>
                <a:latin typeface="Calibri"/>
              </a:rPr>
              <a:t>11/12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3566160" cy="411480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3566160" cy="73152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1117"/>
                </a:solidFill>
                <a:latin typeface="Calibri"/>
              </a:rPr>
              <a:t>Предприниматели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6EDF3"/>
                </a:solidFill>
                <a:latin typeface="Calibri"/>
              </a:rPr>
              <a:t>• Контроль задач и дедлайнов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175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6EDF3"/>
                </a:solidFill>
                <a:latin typeface="Calibri"/>
              </a:rPr>
              <a:t>• Аналитика и исследования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6EDF3"/>
                </a:solidFill>
                <a:latin typeface="Calibri"/>
              </a:rPr>
              <a:t>• Документы без секретаря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48056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6EDF3"/>
                </a:solidFill>
                <a:latin typeface="Calibri"/>
              </a:rPr>
              <a:t>• Быстрые ответы клиентам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60520" y="1371600"/>
            <a:ext cx="3566160" cy="4114800"/>
          </a:xfrm>
          <a:prstGeom prst="rect">
            <a:avLst/>
          </a:prstGeom>
          <a:solidFill>
            <a:srgbClr val="161B22"/>
          </a:solidFill>
          <a:ln w="12700">
            <a:solidFill>
              <a:srgbClr val="F08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60520" y="1371600"/>
            <a:ext cx="3566160" cy="731520"/>
          </a:xfrm>
          <a:prstGeom prst="rect">
            <a:avLst/>
          </a:prstGeom>
          <a:solidFill>
            <a:srgbClr val="F08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146304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1117"/>
                </a:solidFill>
                <a:latin typeface="Calibri"/>
              </a:rPr>
              <a:t>Команды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228600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6EDF3"/>
                </a:solidFill>
                <a:latin typeface="Calibri"/>
              </a:rPr>
              <a:t>• Единый ассистент для всей команды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30175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6EDF3"/>
                </a:solidFill>
                <a:latin typeface="Calibri"/>
              </a:rPr>
              <a:t>• Общая память и контекст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37490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6EDF3"/>
                </a:solidFill>
                <a:latin typeface="Calibri"/>
              </a:rPr>
              <a:t>• Автоматизация общих процессов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448056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6EDF3"/>
                </a:solidFill>
                <a:latin typeface="Calibri"/>
              </a:rPr>
              <a:t>• Отчётность и координация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55280" y="1371600"/>
            <a:ext cx="3566160" cy="411480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55280" y="1371600"/>
            <a:ext cx="3566160" cy="73152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146304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1117"/>
                </a:solidFill>
                <a:latin typeface="Calibri"/>
              </a:rPr>
              <a:t>Фрилансеры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228600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6EDF3"/>
                </a:solidFill>
                <a:latin typeface="Calibri"/>
              </a:rPr>
              <a:t>• Автоматизация рутины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30175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6EDF3"/>
                </a:solidFill>
                <a:latin typeface="Calibri"/>
              </a:rPr>
              <a:t>• Создание контента и документов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37490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6EDF3"/>
                </a:solidFill>
                <a:latin typeface="Calibri"/>
              </a:rPr>
              <a:t>• Больше времени на главное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448056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6EDF3"/>
                </a:solidFill>
                <a:latin typeface="Calibri"/>
              </a:rPr>
              <a:t>• Мониторинг и напоминания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08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74552" y="64922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8B949E"/>
                </a:solidFill>
                <a:latin typeface="Calibri"/>
              </a:rPr>
              <a:t>12/12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457200"/>
            <a:ext cx="11640312" cy="5943600"/>
          </a:xfrm>
          <a:prstGeom prst="rect">
            <a:avLst/>
          </a:prstGeom>
          <a:solidFill>
            <a:srgbClr val="0F1820"/>
          </a:solidFill>
          <a:ln w="12700">
            <a:solidFill>
              <a:srgbClr val="F08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109167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E6EDF3"/>
                </a:solidFill>
                <a:latin typeface="Calibri"/>
              </a:rPr>
              <a:t>Попробуйте бесплатно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8B949E"/>
                </a:solidFill>
                <a:latin typeface="Calibri"/>
              </a:rPr>
              <a:t>Первые 2 недели — демо под вашу задачу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3017520"/>
            <a:ext cx="4873752" cy="36576"/>
          </a:xfrm>
          <a:prstGeom prst="rect">
            <a:avLst/>
          </a:prstGeom>
          <a:solidFill>
            <a:srgbClr val="F08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200400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B949E"/>
                </a:solidFill>
                <a:latin typeface="Calibri"/>
              </a:rPr>
              <a:t>Напишите нам в Telegram: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49039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58A6FF"/>
                </a:solidFill>
                <a:latin typeface="Calibri"/>
              </a:rPr>
              <a:t>@JakeBerrimor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93776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8B949E"/>
                </a:solidFill>
                <a:latin typeface="Calibri"/>
              </a:rPr>
              <a:t>Студия AI-разработки Дениса Парменева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48640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F0883E"/>
                </a:solidFill>
                <a:latin typeface="Calibri"/>
              </a:rPr>
              <a:t>Аркаша — это не продукт. Это ваш человек в AI.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