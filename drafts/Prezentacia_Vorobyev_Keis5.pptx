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5" r:id="rId1"/>
  </p:sldMasterIdLst>
  <p:notesMasterIdLst>
    <p:notesMasterId r:id="rId4"/>
  </p:notesMasterIdLst>
  <p:sldIdLst>
    <p:sldId id="296" r:id="rId2"/>
    <p:sldId id="353" r:id="rId3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</p:sldIdLst>
  <p:sldSz cx="13439775" cy="7559675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3303" userDrawn="1">
          <p15:clr>
            <a:srgbClr val="A4A3A4"/>
          </p15:clr>
        </p15:guide>
        <p15:guide id="3" orient="horz" pos="4422" userDrawn="1">
          <p15:clr>
            <a:srgbClr val="A4A3A4"/>
          </p15:clr>
        </p15:guide>
        <p15:guide id="4" pos="4687" userDrawn="1">
          <p15:clr>
            <a:srgbClr val="A4A3A4"/>
          </p15:clr>
        </p15:guide>
        <p15:guide id="5" pos="2986" userDrawn="1">
          <p15:clr>
            <a:srgbClr val="A4A3A4"/>
          </p15:clr>
        </p15:guide>
        <p15:guide id="6" orient="horz" pos="2154" userDrawn="1">
          <p15:clr>
            <a:srgbClr val="A4A3A4"/>
          </p15:clr>
        </p15:guide>
        <p15:guide id="7" orient="horz" pos="18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Горина Екатерина Леонидовна" initials="ГЕЛ" lastIdx="10" clrIdx="0">
    <p:extLst>
      <p:ext uri="{19B8F6BF-5375-455C-9EA6-DF929625EA0E}">
        <p15:presenceInfo xmlns:p15="http://schemas.microsoft.com/office/powerpoint/2012/main" userId="S-1-5-21-2542494797-2759003736-1566031932-20664" providerId="AD"/>
      </p:ext>
    </p:extLst>
  </p:cmAuthor>
  <p:cmAuthor id="2" name="Шевченко Владислав Сергеевич" initials="ШВС" lastIdx="1" clrIdx="1">
    <p:extLst>
      <p:ext uri="{19B8F6BF-5375-455C-9EA6-DF929625EA0E}">
        <p15:presenceInfo xmlns:p15="http://schemas.microsoft.com/office/powerpoint/2012/main" userId="S-1-5-21-2542494797-2759003736-1566031932-59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40"/>
    <a:srgbClr val="FF2D64"/>
    <a:srgbClr val="00A6FF"/>
    <a:srgbClr val="ACDFFF"/>
    <a:srgbClr val="D5F2FF"/>
    <a:srgbClr val="FFCEDB"/>
    <a:srgbClr val="FFF4E7"/>
    <a:srgbClr val="5A3434"/>
    <a:srgbClr val="D1D5DA"/>
    <a:srgbClr val="6817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6374" autoAdjust="0"/>
  </p:normalViewPr>
  <p:slideViewPr>
    <p:cSldViewPr snapToGrid="0" snapToObjects="1">
      <p:cViewPr varScale="1">
        <p:scale>
          <a:sx n="71" d="100"/>
          <a:sy n="71" d="100"/>
        </p:scale>
        <p:origin x="792" y="60"/>
      </p:cViewPr>
      <p:guideLst>
        <p:guide orient="horz" pos="1224"/>
        <p:guide pos="3303"/>
        <p:guide orient="horz" pos="4422"/>
        <p:guide pos="4687"/>
        <p:guide pos="2986"/>
        <p:guide orient="horz" pos="2154"/>
        <p:guide orient="horz" pos="18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93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1pPr>
    <a:lvl2pPr marL="26687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2pPr>
    <a:lvl3pPr marL="533741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3pPr>
    <a:lvl4pPr marL="80061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4pPr>
    <a:lvl5pPr marL="106748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5pPr>
    <a:lvl6pPr marL="1334351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6pPr>
    <a:lvl7pPr marL="160122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7pPr>
    <a:lvl8pPr marL="1868090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8pPr>
    <a:lvl9pPr marL="2134959" algn="l" defTabSz="533741" rtl="0" eaLnBrk="1" latinLnBrk="0" hangingPunct="1">
      <a:defRPr sz="7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48939" tIns="24469" rIns="48939" bIns="24469"/>
          <a:lstStyle/>
          <a:p>
            <a:endParaRPr lang="en-US">
              <a:latin typeface="TT Norms Regular" panose="02000503030000020003" pitchFamily="2" charset="-5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48939" tIns="24469" rIns="48939" bIns="24469"/>
          <a:lstStyle/>
          <a:p>
            <a:fld id="{F7021451-1387-4CA6-816F-3879F97B5CBC}" type="slidenum">
              <a:rPr lang="en-US">
                <a:latin typeface="TT Norms Regular" panose="02000503030000020003" pitchFamily="2" charset="-52"/>
              </a:rPr>
              <a:t>1</a:t>
            </a:fld>
            <a:endParaRPr lang="en-US">
              <a:latin typeface="TT Norms Regular" panose="02000503030000020003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4571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8505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972" y="1237197"/>
            <a:ext cx="1007983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972" y="3970580"/>
            <a:ext cx="10079831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80620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9644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6971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985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886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86578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5" y="402483"/>
            <a:ext cx="11591806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736" y="1853171"/>
            <a:ext cx="5685654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736" y="2761381"/>
            <a:ext cx="5685654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3886" y="1853171"/>
            <a:ext cx="57136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3886" y="2761381"/>
            <a:ext cx="5713655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1168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41548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5752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27625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3655" y="1088454"/>
            <a:ext cx="6803886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2533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311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7839" y="402483"/>
            <a:ext cx="2897951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985" y="402483"/>
            <a:ext cx="8525857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02557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 userDrawn="1"/>
        </p:nvCxnSpPr>
        <p:spPr>
          <a:xfrm flipH="1">
            <a:off x="-1673905" y="6357905"/>
            <a:ext cx="15957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2517765" y="-491224"/>
            <a:ext cx="3284045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ШАБЛОН ЗАГОЛОВОЧНОГО СЛАЙДА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-1281524" y="-488377"/>
            <a:ext cx="2027846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Пустое поле </a:t>
            </a:r>
          </a:p>
        </p:txBody>
      </p:sp>
      <p:cxnSp>
        <p:nvCxnSpPr>
          <p:cNvPr id="11" name="Прямая со стрелкой 10"/>
          <p:cNvCxnSpPr/>
          <p:nvPr userDrawn="1"/>
        </p:nvCxnSpPr>
        <p:spPr>
          <a:xfrm>
            <a:off x="-643126" y="-251203"/>
            <a:ext cx="138944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 userDrawn="1"/>
        </p:nvCxnSpPr>
        <p:spPr>
          <a:xfrm>
            <a:off x="746322" y="-816429"/>
            <a:ext cx="0" cy="8164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 flipH="1">
            <a:off x="751453" y="-442211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1022206" y="-626877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линия выравнивания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63346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СТРОЧНЫЙ ЗАГОЛОВОК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D68A00E-77E9-4E17-AB6D-30B5DE41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9" y="290289"/>
            <a:ext cx="9574963" cy="53918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68000"/>
              </a:lnSpc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4C31DF66-FD31-40D2-86E3-859CBFE0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11383" y="7219479"/>
            <a:ext cx="313974" cy="12884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lang="ru-RU" sz="880" b="0" i="0" kern="0" spc="-55" smtClean="0">
                <a:solidFill>
                  <a:srgbClr val="757575"/>
                </a:solidFill>
                <a:latin typeface="+mn-lt"/>
                <a:ea typeface="TT Norms Regular" pitchFamily="34" charset="-122"/>
                <a:cs typeface="TT Norms Regular" pitchFamily="34" charset="-120"/>
              </a:defRPr>
            </a:lvl1pPr>
          </a:lstStyle>
          <a:p>
            <a:fld id="{77D613D0-6E26-43FB-BD47-70B2F75E669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4" name="Прямая соединительная линия 3"/>
          <p:cNvCxnSpPr/>
          <p:nvPr userDrawn="1"/>
        </p:nvCxnSpPr>
        <p:spPr>
          <a:xfrm flipV="1">
            <a:off x="518833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 userDrawn="1"/>
        </p:nvCxnSpPr>
        <p:spPr>
          <a:xfrm flipV="1">
            <a:off x="-16115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 userDrawn="1"/>
        </p:nvCxnSpPr>
        <p:spPr>
          <a:xfrm>
            <a:off x="-16115" y="-327804"/>
            <a:ext cx="5349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 userDrawn="1"/>
        </p:nvSpPr>
        <p:spPr>
          <a:xfrm>
            <a:off x="-119279" y="-903323"/>
            <a:ext cx="908865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Левое поле (пустое)</a:t>
            </a:r>
          </a:p>
        </p:txBody>
      </p:sp>
      <p:cxnSp>
        <p:nvCxnSpPr>
          <p:cNvPr id="16" name="Прямая соединительная линия 15"/>
          <p:cNvCxnSpPr/>
          <p:nvPr userDrawn="1"/>
        </p:nvCxnSpPr>
        <p:spPr>
          <a:xfrm flipV="1">
            <a:off x="13432082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 userDrawn="1"/>
        </p:nvCxnSpPr>
        <p:spPr>
          <a:xfrm flipV="1">
            <a:off x="12916356" y="-621102"/>
            <a:ext cx="0" cy="54346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 userDrawn="1"/>
        </p:nvCxnSpPr>
        <p:spPr>
          <a:xfrm>
            <a:off x="12897134" y="-327804"/>
            <a:ext cx="53494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 userDrawn="1"/>
        </p:nvSpPr>
        <p:spPr>
          <a:xfrm>
            <a:off x="12793969" y="-903323"/>
            <a:ext cx="908865" cy="61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Правое поле (пустое)</a:t>
            </a:r>
          </a:p>
        </p:txBody>
      </p:sp>
      <p:cxnSp>
        <p:nvCxnSpPr>
          <p:cNvPr id="20" name="Прямая соединительная линия 19"/>
          <p:cNvCxnSpPr/>
          <p:nvPr userDrawn="1"/>
        </p:nvCxnSpPr>
        <p:spPr>
          <a:xfrm flipH="1">
            <a:off x="518834" y="-327804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-2147126" y="338091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Базовая линия </a:t>
            </a:r>
            <a:b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первой строки заголовка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-2147125" y="988770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Базовая линия </a:t>
            </a:r>
            <a:b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второй строки заголовка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875743" y="-375808"/>
            <a:ext cx="3284045" cy="26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ШАБЛОН СЛАЙДА 1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789586" y="-512470"/>
            <a:ext cx="2027846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31" dirty="0">
                <a:latin typeface="Arial" panose="020B0604020202020204" pitchFamily="34" charset="0"/>
                <a:cs typeface="Arial" panose="020B0604020202020204" pitchFamily="34" charset="0"/>
              </a:rPr>
              <a:t>линия выравнивания заголовка</a:t>
            </a:r>
          </a:p>
        </p:txBody>
      </p:sp>
      <p:pic>
        <p:nvPicPr>
          <p:cNvPr id="26" name="Рисунок 2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89613" b="8195"/>
          <a:stretch/>
        </p:blipFill>
        <p:spPr>
          <a:xfrm>
            <a:off x="12636982" y="338091"/>
            <a:ext cx="313974" cy="28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7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76">
          <p15:clr>
            <a:srgbClr val="FBAE40"/>
          </p15:clr>
        </p15:guide>
        <p15:guide id="2" pos="8139">
          <p15:clr>
            <a:srgbClr val="FBAE40"/>
          </p15:clr>
        </p15:guide>
        <p15:guide id="3" pos="327">
          <p15:clr>
            <a:srgbClr val="FBAE40"/>
          </p15:clr>
        </p15:guide>
        <p15:guide id="4" orient="horz" pos="86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-1257850" y="755762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 userDrawn="1"/>
        </p:nvCxnSpPr>
        <p:spPr>
          <a:xfrm flipH="1">
            <a:off x="-1257850" y="1366838"/>
            <a:ext cx="11385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66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6" userDrawn="1">
          <p15:clr>
            <a:srgbClr val="F26B43"/>
          </p15:clr>
        </p15:guide>
        <p15:guide id="2" orient="horz" pos="861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8" y="477896"/>
            <a:ext cx="3699279" cy="384659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F1AF64E-8F75-42AA-8383-426D976824EB}"/>
              </a:ext>
            </a:extLst>
          </p:cNvPr>
          <p:cNvCxnSpPr>
            <a:cxnSpLocks/>
          </p:cNvCxnSpPr>
          <p:nvPr/>
        </p:nvCxnSpPr>
        <p:spPr>
          <a:xfrm>
            <a:off x="744193" y="6170068"/>
            <a:ext cx="12695582" cy="0"/>
          </a:xfrm>
          <a:prstGeom prst="line">
            <a:avLst/>
          </a:prstGeom>
          <a:ln w="28575">
            <a:solidFill>
              <a:srgbClr val="FF0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/>
          <p:cNvSpPr/>
          <p:nvPr/>
        </p:nvSpPr>
        <p:spPr>
          <a:xfrm>
            <a:off x="731494" y="2040085"/>
            <a:ext cx="7506361" cy="552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0000"/>
              </a:lnSpc>
            </a:pPr>
            <a:r>
              <a:rPr b="1" sz="2800">
                <a:solidFill>
                  <a:srgbClr val="FFFFFF"/>
                </a:solidFill>
              </a:rPr>
              <a:t>Производственная</a:t>
            </a:r>
          </a:p>
          <a:p>
            <a:r>
              <a:rPr b="1" sz="2800">
                <a:solidFill>
                  <a:srgbClr val="FFFFFF"/>
                </a:solidFill>
              </a:rPr>
              <a:t>(правоприменительная) практика</a:t>
            </a:r>
          </a:p>
          <a:p>
            <a:r>
              <a:rPr b="1" sz="2200">
                <a:solidFill>
                  <a:srgbClr val="FFFFFF"/>
                </a:solidFill>
              </a:rPr>
              <a:t/>
            </a:r>
          </a:p>
          <a:p>
            <a:r>
              <a:rPr b="1" sz="2200">
                <a:solidFill>
                  <a:srgbClr val="FFFFFF"/>
                </a:solidFill>
              </a:rPr>
              <a:t>Кейс-задача № 5 — Итоги практики</a:t>
            </a:r>
          </a:p>
        </p:txBody>
      </p:sp>
      <p:sp>
        <p:nvSpPr>
          <p:cNvPr id="8" name="Text 1"/>
          <p:cNvSpPr/>
          <p:nvPr/>
        </p:nvSpPr>
        <p:spPr>
          <a:xfrm>
            <a:off x="1321787" y="6409236"/>
            <a:ext cx="6818913" cy="79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>
                <a:solidFill>
                  <a:srgbClr val="FFFFFF"/>
                </a:solidFill>
              </a:rPr>
              <a:t>Воробьев Александр Алексеевич, группа ОБЮз-12206МОгп</a:t>
            </a: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31494" y="6525258"/>
            <a:ext cx="363457" cy="363513"/>
          </a:xfrm>
          <a:prstGeom prst="rect">
            <a:avLst/>
          </a:prstGeom>
        </p:spPr>
      </p:pic>
      <p:sp>
        <p:nvSpPr>
          <p:cNvPr id="9" name="Freeform 5"/>
          <p:cNvSpPr>
            <a:spLocks/>
          </p:cNvSpPr>
          <p:nvPr/>
        </p:nvSpPr>
        <p:spPr bwMode="auto">
          <a:xfrm>
            <a:off x="10235821" y="0"/>
            <a:ext cx="3203954" cy="6170068"/>
          </a:xfrm>
          <a:custGeom>
            <a:avLst/>
            <a:gdLst>
              <a:gd name="T0" fmla="*/ 1549 w 1549"/>
              <a:gd name="T1" fmla="*/ 2031 h 3034"/>
              <a:gd name="T2" fmla="*/ 1049 w 1549"/>
              <a:gd name="T3" fmla="*/ 1517 h 3034"/>
              <a:gd name="T4" fmla="*/ 1549 w 1549"/>
              <a:gd name="T5" fmla="*/ 1003 h 3034"/>
              <a:gd name="T6" fmla="*/ 1549 w 1549"/>
              <a:gd name="T7" fmla="*/ 0 h 3034"/>
              <a:gd name="T8" fmla="*/ 0 w 1549"/>
              <a:gd name="T9" fmla="*/ 1517 h 3034"/>
              <a:gd name="T10" fmla="*/ 1549 w 1549"/>
              <a:gd name="T11" fmla="*/ 3034 h 3034"/>
              <a:gd name="T12" fmla="*/ 1549 w 1549"/>
              <a:gd name="T13" fmla="*/ 2031 h 3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49" h="3034">
                <a:moveTo>
                  <a:pt x="1549" y="2031"/>
                </a:moveTo>
                <a:lnTo>
                  <a:pt x="1049" y="1517"/>
                </a:lnTo>
                <a:lnTo>
                  <a:pt x="1549" y="1003"/>
                </a:lnTo>
                <a:lnTo>
                  <a:pt x="1549" y="0"/>
                </a:lnTo>
                <a:lnTo>
                  <a:pt x="0" y="1517"/>
                </a:lnTo>
                <a:lnTo>
                  <a:pt x="1549" y="3034"/>
                </a:lnTo>
                <a:lnTo>
                  <a:pt x="1549" y="2031"/>
                </a:lnTo>
                <a:close/>
              </a:path>
            </a:pathLst>
          </a:custGeom>
          <a:noFill/>
          <a:ln w="6350">
            <a:solidFill>
              <a:srgbClr val="FF004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731494" y="1117350"/>
            <a:ext cx="67183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40.03.01 Юриспруденция | Гражданско-правовой профиль | Май 2025 г.</a:t>
            </a:r>
          </a:p>
        </p:txBody>
      </p:sp>
    </p:spTree>
    <p:extLst>
      <p:ext uri="{BB962C8B-B14F-4D97-AF65-F5344CB8AC3E}">
        <p14:creationId xmlns:p14="http://schemas.microsoft.com/office/powerpoint/2010/main" val="4227611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8">
            <a:extLst>
              <a:ext uri="{FF2B5EF4-FFF2-40B4-BE49-F238E27FC236}">
                <a16:creationId xmlns:a16="http://schemas.microsoft.com/office/drawing/2014/main" id="{B5D41CCB-F4F9-4CAC-9A70-CF227E1DA6BE}"/>
              </a:ext>
            </a:extLst>
          </p:cNvPr>
          <p:cNvSpPr txBox="1">
            <a:spLocks/>
          </p:cNvSpPr>
          <p:nvPr/>
        </p:nvSpPr>
        <p:spPr>
          <a:xfrm>
            <a:off x="412750" y="278797"/>
            <a:ext cx="8178155" cy="128934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1007943" rtl="0" eaLnBrk="1" latinLnBrk="0" hangingPunct="1">
              <a:lnSpc>
                <a:spcPct val="68000"/>
              </a:lnSpc>
              <a:spcBef>
                <a:spcPct val="0"/>
              </a:spcBef>
              <a:buNone/>
              <a:defRPr lang="ru-RU" sz="7542" b="0" i="0" kern="0" spc="-220" dirty="0">
                <a:solidFill>
                  <a:srgbClr val="000000"/>
                </a:solidFill>
                <a:latin typeface="TT Norms Regular" pitchFamily="34" charset="0"/>
                <a:ea typeface="TT Norms Regular" pitchFamily="34" charset="-122"/>
                <a:cs typeface="TT Norms Regular" pitchFamily="34" charset="-120"/>
              </a:defRPr>
            </a:lvl1pPr>
          </a:lstStyle>
          <a:p>
            <a:r>
              <a:rPr lang="ru-RU" sz="6000" dirty="0"/>
              <a:t>Заголовок </a:t>
            </a:r>
            <a:br>
              <a:rPr lang="ru-RU" sz="6000" dirty="0"/>
            </a:br>
            <a:r>
              <a:rPr lang="ru-RU" sz="6000" dirty="0">
                <a:solidFill>
                  <a:srgbClr val="FF0040"/>
                </a:solidFill>
              </a:rPr>
              <a:t>слайда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12917099" y="7237363"/>
            <a:ext cx="313974" cy="128845"/>
          </a:xfrm>
        </p:spPr>
        <p:txBody>
          <a:bodyPr/>
          <a:lstStyle/>
          <a:p>
            <a:fld id="{77D613D0-6E26-43FB-BD47-70B2F75E669A}" type="slidenum">
              <a:rPr lang="ru-RU" smtClean="0"/>
              <a:pPr/>
              <a:t>2</a:t>
            </a:fld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C22805C-7D63-43C8-BD51-F4ACB8BEAA31}"/>
              </a:ext>
            </a:extLst>
          </p:cNvPr>
          <p:cNvCxnSpPr>
            <a:cxnSpLocks/>
          </p:cNvCxnSpPr>
          <p:nvPr/>
        </p:nvCxnSpPr>
        <p:spPr>
          <a:xfrm flipH="1">
            <a:off x="3314700" y="1366838"/>
            <a:ext cx="1299145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3331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Содержание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74151"/>
                </a:solidFill>
                <a:latin typeface="Calibri"/>
              </a:rPr>
              <a:t>Кейс № 1.  Нормативно-правовая база деятельности Юридической клиники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(часть 1 — часть 2)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Кейс № 2.  Цели, задачи и организационная структура Юридической клиники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Схема документооборота (8 этапов)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Кейс № 3.  Подготовленные правовые документы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Договор субаренды, Договор купли-продажи ТС, Договор займа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Кейс № 4.  Анализ судебных решений Верховного Суда РФ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Дело 1 (иск удовлетворён) · Дело 2 (в иске отказано)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Сравнительный анализ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Итоги производственной практики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Воробьев А.А., группа ОБЮз-12206МОгп, май 2025 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Кейс № 1. Нормативно-правовая база (часть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Calibri"/>
              </a:rPr>
              <a:t>Конституция Российской Федерации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Ст. 48 — право на получение квалифицированной юридической помощи (в т.ч. бесплатной)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Ст. 46 — право на судебную защиту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Ст. 24 — право на ознакомление с документами, затрагивающими права гражданина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Федеральный закон № 324-ФЗ «О бесплатной юридической помощи в РФ»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Ст. 23 — юридические клиники как субъекты государственной системы БЮП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Устанавливает порядок и условия оказания бесплатной юридической помощи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Федеральный закон № 273-ФЗ «Об образовании в Российской Федерации»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Правовая основа для создания клиник при образовательных организациях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Практическая подготовка обучающихся по юридическим специальностям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Приказ Минобрнауки России № 994 от 28.11.2012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Об утверждении Порядка создания образовательными организациями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высшего образования юридических клиник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Кейс № 1. Нормативно-правовая база (часть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Calibri"/>
              </a:rPr>
              <a:t>Федеральный закон № 152-ФЗ «О персональных данных»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Регулирует обработку и хранение персональных данных клиентов клиники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Обязателен при приёме заявлений и ведении документооборота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Федеральный закон № 59-ФЗ «О порядке рассмотрения обращений граждан»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Регламентирует сроки и порядок ответа на обращения граждан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Положение о Юридической клинике Университета «Синергия»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Утверждено 25.03.2025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Определяет цели, структуру, порядок работы и отчётности клиники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Устав НОЧУ ВО «Московский финансово-промышленный университет «Синергия»»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Учредительный документ, определяющий правовой статус организации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Вывод: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Деятельность Юридической клиники регулируется многоуровневой нормативной базой —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от Конституции РФ до локальных актов Университета, что обеспечивает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законность, качество и защищённость участников процесса.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Кейс № 2. Цели и задачи Юридической клиники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Calibri"/>
              </a:rPr>
              <a:t>Цели Юридической клиники: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Реализация конституционного права граждан на бесплатную юридическую помощь (ст. 48 КРФ)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Правовое просвещение населения — формирование правовой грамотности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Практическая подготовка студентов-юристов в условиях, приближенных к реальным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Задачи Юридической клиники: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Оказание бесплатной юридической помощи гражданам (консультации, составление документов)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Обеспечение практической подготовки обучающихся по направлению «Юриспруденция»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Развитие профессиональных навыков студентов: коммуникация, анализ, документооборот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Внедрение интерактивных методик обучения (ролевые игры, разбор реальных дел)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Формирование этических норм профессионального поведения юриста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Принцип работы: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Помощь оказывается БЕСПЛАТНО. Студенты работают под контролем кураторов.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Все консультации и документы проходят обязательное согласование.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Кейс № 2. Организационная структура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Calibri"/>
              </a:rPr>
              <a:t>Организационная структура (иерархия):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РУКОВОДИТЕЛЬ клиники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  Общее руководство, контроль соответствия нормативным требованиям,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  утверждение распределения дел, итоговая отчётность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├──  Преподаватели-кураторы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       Контроль качества консультаций, методическое сопровождение студентов,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       согласование подготовленных документов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├──  Секретарь клиники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       Делопроизводство, регистрация обращений граждан, запись на приём,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       ведение журналов, архивирование дел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├──  Юристы-практики (приглашённые)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       Проведение лекций и семинаров на безвозмездной основе,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       передача практического опыта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│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└──  Студенты-консультанты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Приём граждан, проведение юридических консультаций,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составление правовых документов под контролем куратора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Кейс № 2. Схема документооборота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Calibri"/>
              </a:rPr>
              <a:t>Схема документооборота Юридической клиники (8 этапов):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1.  Первичный приём гражданина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Документы: заявление, согласие на обработку ПД   |   Ответственный: Секретарь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2.  Регистрация обращения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Документы: запись в журнал регистрации   |   Ответственный: Секретарь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3.  Распределение дела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Документы: резолюция на заявлении   |   Ответственный: Руководитель / Куратор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4.  Подготовка правовой позиции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Действие: анализ, изучение нормативной базы   |   Ответственный: Студент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5.  Согласование позиции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Действие: проверка, корректировка   |   Ответственный: Куратор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6.  Оказание юридической помощи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Документы: консультация / проект документа   |   Ответственный: Студент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7.  Архивирование дела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Действие: подшивка всех материалов   |   Ответственный: Секретарь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8.  Отчётность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Документы: отчёт о деятельности клиники   |   Ответственный: Все участники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Кейс № 3. Подготовленные документы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Calibri"/>
              </a:rPr>
              <a:t>1. Договор субаренды нежилого помещения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Объект: нежилое помещение под размещение пекарни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Срок: 11 месяцев   |   Арендная плата: 360 000 руб./мес.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Правовая основа: ГК РФ ст. 615 (субаренда), 623 (улучшения), 655 (передача)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2. Договор купли-продажи транспортного средства (LADA 4X4)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Стоимость: 1 000 000 руб. (один миллион рублей)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Состав: договор + Акт приёма-передачи транспортного средства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Правовая основа: ГК РФ ст. 454–491 (купля-продажа)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3. Договор займа между физическими лицами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Тип: процентный заём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Условия: неустойка за просрочку возврата суммы займа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Правовая основа: ГК РФ ст. 807–818 (заём и кредит)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Итог по кейсу:</a:t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Подготовлено 3 договора, охватывающих ключевые разделы гражданского права: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аренда, купля-продажа, заёмные обязательства.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Кейс № 4. Дело 1 — Иск удовлетворён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Calibri"/>
              </a:rPr>
              <a:t>Стороны: Кузнецова С.Г.  vs  АО «РТК» (торговая сеть МТС)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Предмет спора: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Дистанционная купля-продажа смартфона Samsung Galaxy S22 (цена: 87 493 руб.)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Продавец аннулировал уже подтверждённый заказ, сославшись на санкционные ограничения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Правовая позиция ВС РФ: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Санкционные ограничения НЕ являются форс-мажором для профессионального продавца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Продавец, осуществляющий предпринимательскую деятельность, несёт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повышенную ответственность и обязан управлять коммерческими рисками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Отказ от исполнения договора недопустим без законных оснований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Применённые нормы: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Ст. 420 ГК РФ — свобода договора и обязательность его исполнения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Ст. 23.1 Закона РФ № 2300-1 «О защите прав потребителей»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Результат: ИСК УДОВЛЕТВОРЁН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Взысканы: реальные убытки + неустойка + компенсация морального вреда + штраф 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Кейс № 4. Дело 2 — В иске отказано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Calibri"/>
              </a:rPr>
              <a:t>Стороны: ГУП «Московский метрополитен»  vs  Плотников В.Е.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Предмет спора: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Взыскание упущенной выгоды в размере 696 630,65 руб.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Причина: остановка 35 трамвайных рейсов в результате ДТП по вине Плотникова В.Е.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Правовая позиция ВС РФ: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Истец не доказал ОТСУТСТВИЕ бюджетного субсидирования убытков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Взыскание упущенной выгоды невозможно при отсутствии реального ущерба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Для взыскания упущенной выгоды необходимо доказать: факт нарушения,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причинно-следственную связь И реальную возможность получения дохода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Применённые нормы: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Ст. 15 ГК РФ — убытки (реальный ущерб и упущенная выгода)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Ст. 1064 ГК РФ — общие основания ответственности за причинение вреда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Результат: В ИСКЕ ОТКАЗАНО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Дело направлено на новое рассмотрение — для исследования вопроса о субсидировании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Кейс № 4. Сравнительный анализ решений ВС РФ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Calibri"/>
              </a:rPr>
              <a:t>Дело 1 (Кузнецова vs МТС) — ИСК УДОВЛЕТВОРЁН: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Принцип: защита слабой стороны (потребителя) в договорных отношениях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Санкционные ограничения ≠ форс-мажор для профессионального участника рынка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Повышенная ответственность предпринимателя: риски берёт на себя продавец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Полное возмещение: убытки + неустойка + моральный вред + штраф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Дело 2 (Метрополитен vs Плотников) — В ИСКЕ ОТКАЗАНО: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Принцип: строгий стандарт доказывания для взыскания упущенной выгоды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Бюджетное субсидирование может исключать возможность взыскания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Необходимо доказать реальную утрату дохода, а не только факт нарушения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•  Взыскание упущенной выгоды без реального ущерба невозможно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Сравнительный вывод:</a:t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ВС РФ последовательно применяет ДИФФЕРЕНЦИРОВАННЫЙ подход: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— В потребительских спорах: приоритет защиты слабой стороны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— В предпринимательских спорах: строгая доказанность оснований и размера ответственности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Общий принцип: гражданско-правовая ответственность наступает только при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ДОКАЗАННОСТИ всех необходимых юридических оснований.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51999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40"/>
                </a:solidFill>
                <a:latin typeface="Calibri"/>
              </a:rPr>
              <a:t>Итоги производственной практики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1007999"/>
            <a:ext cx="11160000" cy="25400"/>
          </a:xfrm>
          <a:prstGeom prst="rect">
            <a:avLst/>
          </a:prstGeom>
          <a:solidFill>
            <a:srgbClr val="FF0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51999"/>
            <a:ext cx="11160000" cy="586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374151"/>
                </a:solidFill>
                <a:latin typeface="Calibri"/>
              </a:rPr>
              <a:t>Место прохождения:  Юридическая клиника Университета «Синергия»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Период:              19 апреля — 16 мая 2025 г.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Результаты производственной практики: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1.  Изучены 8 нормативно-правовых актов, регулирующих деятельность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Юридической клиники (от КРФ до локальных актов Университета)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2.  Изучены организационная структура клиники и схема документооборота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(8 этапов — от первичного приёма до архивирования)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F2937"/>
                </a:solidFill>
                <a:latin typeface="Calibri"/>
              </a:rPr>
              <a:t>3.  Подготовлены 3 договора практической направленности: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субаренда нежилого помещения, купля-продажа ТС, договор займа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4.  Проведён сравнительный анализ 2 решений Верховного Суда РФ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по гражданско-правовым спорам (защита прав потребителей и деликтные обязательства)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5.  Получены компетенции в области гражданского права, защиты прав граждан,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составления правовых документов и анализа судебной практики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─────────────────────────────────────────────────────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Обучающийся:  Воробьев Александр Алексеевич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Группа:       ОБЮз-12206МОгп</a:t>
            </a:r>
          </a:p>
          <a:p>
            <a:r>
              <a:rPr sz="1500">
                <a:solidFill>
                  <a:srgbClr val="374151"/>
                </a:solidFill>
                <a:latin typeface="Calibri"/>
              </a:rPr>
              <a:t>Направление:  40.03.01 Юриспруденция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59775" y="7127675"/>
            <a:ext cx="9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T Norms Medium"/>
        <a:ea typeface=""/>
        <a:cs typeface=""/>
      </a:majorFont>
      <a:minorFont>
        <a:latin typeface="TT Norms Regular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7919</TotalTime>
  <Words>29</Words>
  <Application>Microsoft Office PowerPoint</Application>
  <PresentationFormat>Произвольный</PresentationFormat>
  <Paragraphs>10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Gotham Pro Medium</vt:lpstr>
      <vt:lpstr>TT Norms Medium</vt:lpstr>
      <vt:lpstr>TT Norms Regular</vt:lpstr>
      <vt:lpstr>Office Theme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Vorobyov</cp:lastModifiedBy>
  <cp:revision>689</cp:revision>
  <cp:lastPrinted>2023-01-31T15:18:13Z</cp:lastPrinted>
  <dcterms:created xsi:type="dcterms:W3CDTF">2022-08-02T06:53:33Z</dcterms:created>
  <dcterms:modified xsi:type="dcterms:W3CDTF">2026-03-16T20:01:18Z</dcterms:modified>
</cp:coreProperties>
</file>