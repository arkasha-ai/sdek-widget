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C4DE"/>
                </a:solidFill>
              </a:rPr>
              <a:t>Генетический профиль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D26169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Анализ клинически значимых вариантов (MODERATE &amp; HIGH impact)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657600"/>
            <a:ext cx="237744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703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 КРИТИЧНЫХ НАХОДКИ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2377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3703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8 ВАЖНЫХ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657600"/>
            <a:ext cx="237744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703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 ОПТИМАЛЬНЫХ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</a:rPr>
              <a:t>07.03.2026  |  Черновик — требует верификации специалистом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Обзор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Что исследовалось и ключевые цифры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533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Фолатно-метионин. цикл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5 вариантов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64008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533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Физическая активность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2 вариантов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533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Минералы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49 вариантов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468880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Иммунитет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11 вариантов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46888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2468880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Витамины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10 вариантов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46888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468880"/>
            <a:ext cx="64008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Детокс фаза 1 (печень)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3 вариантов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5760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657600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730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Детокс фаза 2 (печень)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25 вариантов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65760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3657600"/>
            <a:ext cx="64008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730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Гены детоксикации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8 вариантов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65760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657600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730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Питание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10 вариантов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84632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846320"/>
            <a:ext cx="64008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4919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Митохондрии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1 вариантов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84632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4846320"/>
            <a:ext cx="64008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4919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Факторы свертывания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4 вариантов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4846320"/>
            <a:ext cx="36576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38160" y="4846320"/>
            <a:ext cx="64008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4919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Лишний вес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3 вариантов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Ключевые находки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Топ-5 клинически значимых особенностей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960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64008" cy="960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560"/>
                </a:solidFill>
              </a:rPr>
              <a:t>🔴 КРИТИЧНО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Непереносимость лактозы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LCT 1/1 гом — полная неактивность лактазы. Исключить молоко и молочные продукты.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11612880" cy="960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64008" cy="960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560"/>
                </a:solidFill>
              </a:rPr>
              <a:t>🔴 КРИТИЧНО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Тройная проблема B12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CUBN (множ. 1/1) + MTR 1/1 + FUT2 het — нарушено всасывание и транспорт витамина B12.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37560"/>
            <a:ext cx="11612880" cy="960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337560"/>
            <a:ext cx="64008" cy="960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560"/>
                </a:solidFill>
              </a:rPr>
              <a:t>🔴 КРИТИЧНО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3832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Нарушение метилирования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MTHFR + MTHFD1 (1/1) + SHMT1 (1/1) + MTR — вся ось фолат→метионин затронута.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11612880" cy="960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64008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🟡 ВАЖНО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34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Витамин D (VDR HIGH impact)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VDR start_lost het — нарушено связывание рецептора. Риск дефицита даже при нормальном D3.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40679"/>
            <a:ext cx="11612880" cy="960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440679"/>
            <a:ext cx="64008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863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🟡 ВАЖНО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4863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Детоксикация GSTP1 1/1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59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Снижена активность глутатион-S-трансферазы — повышенная чувствительность к токсинам.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Питание и пищевые особенности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LCT, ADH1B, GCKR, MYO9B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Непереносимость лактозы  (LCT 1/1 гомозиготный)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✗ Исключить: молоко, мороженое, сливки, молочные каши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✓ Разрешено: твёрдые сыры (пармезан, чеддер), топлёное масло (ГХИ)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✓ Альтернативы: кокосовое, миндальное, овсяное молоко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✓ При необходимости: фермент лактаза перед едой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1161288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Алкоголь  (ADH1B rs1229984 — 1/1 гом)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Ускоренный метаболизм этанола → быстрее накапливается ацетальдегид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Рекомендация: ограничить или исключить алкоголь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77640"/>
            <a:ext cx="1161288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0233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Глюкозный метаболизм  (GCKR rs1260326 — гет)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Умеренное снижение регуляции глюкокиназы → склонность к инсулинорезистентности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Рекомендация: ограничить быстрые углеводы, дробное питание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1161288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Кишечная проницаемость  (MYO9B — несколько гет)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Умеренный риск повышенной проницаемости кишечника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79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Рекомендация: пробиотики, глютамин, исключить глютен при симптомах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Витамин B12 — тройная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CUBN, MTR, FUT2, MTHFR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 Все три этапа метаболизма B12 затронуты одновременно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5661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56616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1. Всасывание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CUBN (Кубилин)
Множественные 1/1 гом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Снижено всасывание B12
в тонком кишечнике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880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5661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5661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2. Транспорт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FUT2 rs601338
HET stop_gained (HIGH)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63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Нарушен секреторный статус,
влияет на микробиом и B12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880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5661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5661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3. Утилизация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23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MTR rs1805087
1/1 гомозиготный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063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Снижена активность
метионин-синтазы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9120"/>
            <a:ext cx="11612880" cy="1463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Рекомендации: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2803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Метилкобаламин (активная форма B12) 1000-2000 мкг/сут — не цианокобаламин!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8406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Дополнительный контроль: гомоцистеин в крови (цель &lt;10 мкмоль/л)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4009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Совместно: метилфолат 400-800 мкг, B6 (P-5-P форма)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961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Пробиотики для нормализации микробиома (FUT2)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Витамин D и метилирование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VDR, MTHFR, MTHFD1, SHMT1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26517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Витамин D  (VDR)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VDR rs2228570 — start_lost (HIGH impact), 0/1 гет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→ Нарушено связывание витамина D с рецептором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→ Дефицит даже при нормальном уровне 25-OH D3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Рек: D3 + K2 (MK-7) в высоких дозах (4000-6000 МЕ/сут)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Контроль 25-OH-D3 каждые 3 мес, цель 60-80 нг/мл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5577840" cy="26517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57784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61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Метилирование (ось фолат-метионин)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MTHFR A1298C (0/1 гет) — умеренное снижение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MTHFD1 rs2236225 (1/1 гом) — снижена фолат-синтаза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SHMT1 rs1979277 (1/1 гом) — нарушен серин-цикл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MTR rs1805087 (1/1 гом) — снижена метионин-синтаза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7180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Рек: метилфолат 800 мкг + B2, B6 (P-5-P), B12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11879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</a:rPr>
              <a:t>Избегать синтетической фолиевой кислоты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69080"/>
            <a:ext cx="11612880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</a:rPr>
              <a:t>ПУТЬ МЕТИЛИРОВАНИЯ: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</a:rPr>
              <a:t>Фолат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94560"/>
                </a:solidFill>
              </a:rPr>
              <a:t>→(MTHFR)→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</a:rPr>
              <a:t>5-MTHF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94560"/>
                </a:solidFill>
              </a:rPr>
              <a:t>→(MTHFD1)→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</a:rPr>
              <a:t>Формил-THF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94560"/>
                </a:solidFill>
              </a:rPr>
              <a:t>→(SHMT1)→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</a:rPr>
              <a:t>Серин/Глицин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94560"/>
                </a:solidFill>
              </a:rPr>
              <a:t>→(MTR)→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41148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</a:rPr>
              <a:t>Метионин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526280"/>
            <a:ext cx="11612880" cy="12344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Лабораторные маркеры: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3776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Гомоцистеин (цель &lt;10)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93776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25-OH-D3 (цель 60-80)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3776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B12 активный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578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Фолат эритроцитарный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2578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SAM/SAH соотношение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Детоксикация печени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GSTP1, CYP1B1, CYP2C19, CYP2C8, AGT, NLRP3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930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ФАЗА 1 — Активация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81912"/>
            <a:ext cx="1161288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3677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CYP1B1 — 3 варианта (0/1 гет)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367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Изменён эстрогеновый метаболизм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39112"/>
            <a:ext cx="1161288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CYP2C19 rs3758581 (1/1 гом)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939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Изменён метаболизм лекарств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96312"/>
            <a:ext cx="1161288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5117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CYP2C8 rs1058930 (0/1 гет)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511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Умеренное влияние на метаболизм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53512"/>
            <a:ext cx="1161288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083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ФАЗА 2 — Конъюгация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00984"/>
            <a:ext cx="1161288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5584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GSTP1 rs1695 (1/1 гом) 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5584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СНИЖЕНА активность глутатион-S-трансферазы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58183"/>
            <a:ext cx="1161288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13047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MTHFD1 rs2236225 (1/1 гом)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13047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Нарушена фолат-зависимая конъюгация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15383"/>
            <a:ext cx="1161288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70247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UGT2A2 rs4148304 (0/1 гет)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70247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Умеренное влияние на глюкуронизацию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09744"/>
            <a:ext cx="1161288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828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Рекомендации для поддержки детокса: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39512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N-ацетилцистеин (NAC) 600 мг — предшественник глутатиона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77255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Глутатион восстановленный (липосомальный) 500 мг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1500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Брокколи / сульфорафан — индуктор GSTP1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52744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Расторопша (силимарин) 300-600 мг — гепатопротекция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9048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Ограничить: алкоголь, парацетамол, жареное (усиливают нагрузку на CYP)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Иммунитет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CFH, FUT2, IFIH1, NLRP3, TLR1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64008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CFH rs1061170 (1/1 гом) — His402Tyr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Нарушена регуляция системы комплемента. Повышен риск возрастной макулярной дегенерации (AMD) и хронического воспаления. Классический высокорисковый вариант.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48840"/>
            <a:ext cx="1161288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48840"/>
            <a:ext cx="64008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037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FUT2 rs601338 (0/1 гет) — stop_gained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Секреторный статус — влияет на состав кишечного микробиома. Ассоциирован со сниженным иммунитетом к норовирусу, влияет на B12 всасывание.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1161288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63240"/>
            <a:ext cx="64008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181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IFIH1 rs3747517 (1/1 гом)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021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Усиленная активация врождённого иммунного ответа на вирусы (антивирусный паттерн). Может быть связан с аутоиммунной склонностью.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77639"/>
            <a:ext cx="1161288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77639"/>
            <a:ext cx="64008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32503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TLR1 rs5743611 (0/1 гет)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165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Умеренное изменение распознавания бактериальных патогенов. Клинически незначимо при нормальном иммунитете.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83479"/>
            <a:ext cx="116128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Рекомендации: омега-3 ЭПК/ДГК 2-3 г/сут • Куркумин 500 мг • Цинк 15-25 мг • Кверцетин 500 мг • Периодические офтальмологические проверки (CFH/AMD)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Физическая активность и вес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UCP2, APOE, PPARG, GIPR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234440"/>
            <a:ext cx="2560320" cy="3200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234440"/>
            <a:ext cx="25603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UCP2 rs660339 (1/1 гом)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91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Разобщающий белок 2 — регулирует термогенез и расход энергии.
1/1 гом → снижена эффективность сжигания калорий.
Рек: кардио-нагрузки средней интенсивности, холодовые процедуры.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234440"/>
            <a:ext cx="2560320" cy="3200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25603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APOE rs440446 (0/1 гет)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Аполипопротеин E — транспорт холестерина и нейропротекция.
Гет вариант — умеренное влияние на липидный профиль.
Рек: мониторинг ЛПНП/ЛПВП, омега-3, ограничить насыщ. жиры.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234440"/>
            <a:ext cx="2560320" cy="3200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234440"/>
            <a:ext cx="256032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PPARG rs1801282 (0/1 гет)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6916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PPAR-гамма — чувствительность к инсулину, жировой метаболизм.
Гет — умеренно протективный вариант (снижен риск T2D).
Рек: силовые тренировки для поддержки инсулин. чувствительности.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17720"/>
            <a:ext cx="11612880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Оптимальный режим тренировок: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Кардио: 3x/нед 40-60 мин (зона 60-75% ЧСС) — UCP2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834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Силовые: 2-3x/нед — PPARG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9834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Интервальные (HIIT): 1x/нед — UCP2 термогенез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Минералы и митохондрии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Гены: SLC11A2, TXNRD2, CACNA1C, UQCRC2, MTR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Железо (SLC11A2 1/1 гом)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Изменён транспорт двухвалентных металлов (Fe, Mn, Zn). Мониторинг сывороточного железа, ферритина.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11612880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5740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12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Селен (TXNRD2 1/1 гом)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Снижена активность тиоредоксин-редуктазы → окислительный стресс. Селен 200 мкг/сут, бразильский орех (1-2 шт).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11612880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Кальций (CACNA1C 1/1 гом)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Изменена кальциевая сигнализация. Мониторинг Ca+Mg. Магний глицинат 300-400 мг/сут.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1612880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64008" cy="7498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581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B12-Метионин (MTR 1/1 гом)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Снижена метионин-синтаза — B12 зависимый фермент. Метилкобаламин (см. слайд B12).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11612880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526280"/>
            <a:ext cx="64008" cy="7498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81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Митохондрии (UQCRC2 гет)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Комплекс III дых. цепи — умеренное влияние. CoQ10 100-200 мг/сут, R-альфа-липоевая кислота.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Рекомендуемые лабораторные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Для верификации генетических рисков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СРОЧНО (1-й месяц)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Гомоцистеин (цель &lt;10 мкмоль/л) — MTHFR, MTR, MTHFD1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81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Витамин B12 активный (голотранскобаламин) — CUBN, MTR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Фолат эритроцитарный — MTHFR, SHMT1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562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25-OH-Витамин D3 (цель 60-80 нг/мл) — VDR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Ферритин + сывороточное железо + TIBC — SLC11A2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Глутатион (восст./окисл.) — GSTP1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04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Селен в крови — TXNRD2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07791"/>
            <a:ext cx="11612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799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2-й этап (2-3 месяц)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5526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Липидный профиль расширенный (ЛПНП, ЛПВП, ТГ, апо-B) — APOE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5526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Кальций ионизированный + магний — CACNA1C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958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Витамин D-связывающий белок — VDR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2958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Кишечный микробиом (анализ) — FUT2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0390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Офтальмолог (ОКТ макулы) — CFH/AMD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306823"/>
            <a:ext cx="1161288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1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По показаниям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5429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SAM / SAH (метилирование) — MTHFR, MTHFD1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2861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CoQ10 в крови — UQCRC2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0293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</a:rPr>
              <a:t>• Анализ на переносимость лактозы (водородный тест) — LCT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Итог и план действий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Приоритизация по критичности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560"/>
                </a:solidFill>
              </a:rPr>
              <a:t>НЕМЕДЛЕННО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356616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64008" cy="5303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1. Исключить молочные продукты (лактоза LCT)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21992"/>
            <a:ext cx="356616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21992"/>
            <a:ext cx="64008" cy="5303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 Начать метилкобаламин 1500 мкг/сут (B12)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16352"/>
            <a:ext cx="356616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16352"/>
            <a:ext cx="64008" cy="5303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3. Начать метилфолат 800 мкг/сут (MTHFR)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10712"/>
            <a:ext cx="356616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10712"/>
            <a:ext cx="64008" cy="5303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4. Сдать анализы 1-го этапа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234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В ТЕЧЕНИЕ МЕСЯЦА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627632"/>
            <a:ext cx="3749039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627632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5. Добавить D3+K2 (4000-6000 МЕ) — VDR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221992"/>
            <a:ext cx="3749039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221992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6. NAC 600 мг + глутатион — GSTP1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816352"/>
            <a:ext cx="3749039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816352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7. Селен 200 мкг — TXNRD2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410712"/>
            <a:ext cx="3749039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410712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8. Омега-3 2г/сут — CFH/воспаление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12344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ПОДДЕРЖИВАТЬ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1627632"/>
            <a:ext cx="370332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1627632"/>
            <a:ext cx="64008" cy="5303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16916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9. CoQ10 150 мг — митохондрии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2221992"/>
            <a:ext cx="370332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2221992"/>
            <a:ext cx="64008" cy="5303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22860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 Пробиотики — FUT2/микробиом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2816352"/>
            <a:ext cx="370332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2816352"/>
            <a:ext cx="64008" cy="5303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28803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11. Кардио 3x + силовые 3x/нед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410712"/>
            <a:ext cx="370332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79" y="3410712"/>
            <a:ext cx="64008" cy="5303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474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12. Ограничить алкоголь — ADH1B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Важные оговорки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Не является медицинским диагнозом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Данный отчёт носит информационный характер. Генетические варианты — это предрасположенности, а не приговор. Наличие варианта не означает наличие заболевания.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1161288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963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Консультация врача обязательна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Перед началом любой supplementation необходима консультация врача-нутрициолога, генетика или терапевта. Дозировки должны быть скорректированы по результатам анализов.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80"/>
            <a:ext cx="1161288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6400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850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Ограничения анализа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873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Анализировались только MODERATE и HIGH impact варианты. Анализ экспрессии генов и эпигенетические факторы не учитывались. Функциональное значение многих вариантов продолжает изучаться.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1161288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64008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737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Позитивный контекст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76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Большинство выявленных рисков хорошо поддаётся коррекции через питание, нутрицевтики и образ жизни. Знание генетики — мощный инструмент персонализированной профилактики.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